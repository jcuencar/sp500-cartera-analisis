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59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10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0501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Introducción: problema, objetivo y herramientas usadas. 2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las 4 preguntas de negocio. Mencionar los datasets de Kaggle.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Describir el pipeline completo en 1 minuto. Énfasis en que es un ciclo analítico de principio 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Señalar que la mayoría de empresas se concentra en valores moderados. El Revenue Growth tiene la mayor dispersión.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independencia entre KPIs justifica usarlos todos en PCA y K-Means sin riesgo de multicolinealidad.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método del codo justifica k=4. Coincidencia con los 4 sectores es un argumento adicional.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Cluster 2 es el ganador: margen 37%, crecimiento 94%, deuda moderada. Solo 20 empresas.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 tabla y el circular. Healthcare lidera con 30%, seguido de Technology 26%, Energy 25% y Basic Materials 18%.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gráfico de dispersión: eje X = deuda, eje Y = margen, tamaño = inversión. Zona ideal = arriba a la izquierda.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los 3 hallazgos clave y los próximos pasos. Mencionar el repositorio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914400"/>
            <a:ext cx="6949440" cy="3291840"/>
          </a:xfrm>
          <a:prstGeom prst="roundRect">
            <a:avLst>
              <a:gd name="adj" fmla="val 41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280160" y="109728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DATA ANALYTICS — ENERO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155448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Construcción de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Cartera de Inversión S&amp;P 500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80160" y="306324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50.000 € · Perfil Moderado · 20 Empresas · 4 Sectores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0" y="4480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Cuenca   ·   Junio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invertir 50.000 € en el S&amp;P 500 de forma sistemática, diversificada y justificada con datos?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219456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1C3F6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sectores ofrecen mejor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rentabilidad/riesgo?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14600" y="219456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1C3F6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606040" y="224028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empresas pasan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filtros de calidad?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219456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1C3F6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754880" y="224028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¿Existen perfiles naturales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empresas?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12280" y="219456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1C3F6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903720" y="224028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distribuir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capital?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Datos: Kaggle · 200+ Financial Indicators of US Stocks (2014-2018) · S&amp;P 500 Companies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Analítico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1554480" cy="256032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1051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15544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237744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3.808 → 1.124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47088" y="19202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011680" y="1005840"/>
            <a:ext cx="1554480" cy="2560320"/>
          </a:xfrm>
          <a:prstGeom prst="roundRect">
            <a:avLst>
              <a:gd name="adj" fmla="val 7059"/>
            </a:avLst>
          </a:prstGeom>
          <a:solidFill>
            <a:srgbClr val="1C4F8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011680" y="1051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011680" y="15544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11680" y="237744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 candidatas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84448" y="19202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749040" y="1005840"/>
            <a:ext cx="1554480" cy="2560320"/>
          </a:xfrm>
          <a:prstGeom prst="roundRect">
            <a:avLst>
              <a:gd name="adj" fmla="val 7059"/>
            </a:avLst>
          </a:prstGeom>
          <a:solidFill>
            <a:srgbClr val="1867B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749040" y="1051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749040" y="15544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49040" y="237744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Correlaciones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21808" y="19202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486400" y="1005840"/>
            <a:ext cx="1554480" cy="2560320"/>
          </a:xfrm>
          <a:prstGeom prst="roundRect">
            <a:avLst>
              <a:gd name="adj" fmla="val 7059"/>
            </a:avLst>
          </a:prstGeom>
          <a:solidFill>
            <a:srgbClr val="1080C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486400" y="1051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486400" y="15544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0" y="237744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· K-Means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59168" y="19202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223760" y="1005840"/>
            <a:ext cx="1554480" cy="2560320"/>
          </a:xfrm>
          <a:prstGeom prst="roundRect">
            <a:avLst>
              <a:gd name="adj" fmla="val 7059"/>
            </a:avLst>
          </a:prstGeom>
          <a:solidFill>
            <a:srgbClr val="0D948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7223760" y="1051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223760" y="15544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23760" y="237744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empresas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50.000 €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Python · SQL / DBeaver · Excel · Power BI · Git / GitHub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Distribución de KPIs</a:t>
            </a:r>
            <a:endParaRPr lang="en-US" sz="3000" dirty="0"/>
          </a:p>
        </p:txBody>
      </p:sp>
      <p:pic>
        <p:nvPicPr>
          <p:cNvPr id="3" name="Image 0" descr="/home/claude/dist_kpi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777240"/>
            <a:ext cx="8412480" cy="3566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 asimétricas típicas de datos financieros · Revenue Growth es el KPI más disperso · Deuda concentrada cerca de 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Correlación entre KPIs</a:t>
            </a:r>
            <a:endParaRPr lang="en-US" sz="3000" dirty="0"/>
          </a:p>
        </p:txBody>
      </p:sp>
      <p:pic>
        <p:nvPicPr>
          <p:cNvPr id="3" name="Image 0" descr="/home/claude/corr_kpi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777240"/>
            <a:ext cx="4114800" cy="35661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754880" y="91440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4892040" y="960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↔ Crecimiento (0,33)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892040" y="12984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correlación más alta: empresas eficientes crecen más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54880" y="192024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892040" y="19659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 ↔ Margen (0,28)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892040" y="230428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margen → mayor rentabilidad sobre capital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292608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4892040" y="29718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↔ ROE (-0,11)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92040" y="331012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caras en bolsa no son las más rentables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393192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4892040" y="39776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Correlaciones bajas en general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892040" y="43159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 KPIs aportan info independiente → justifica PCA y K-Means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K óptimo</a:t>
            </a:r>
            <a:endParaRPr lang="en-US" sz="3000" dirty="0"/>
          </a:p>
        </p:txBody>
      </p:sp>
      <p:pic>
        <p:nvPicPr>
          <p:cNvPr id="3" name="Image 0" descr="/home/claude/metodo_cod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777240"/>
            <a:ext cx="5029200" cy="3474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77840" y="914400"/>
            <a:ext cx="3291840" cy="3200400"/>
          </a:xfrm>
          <a:prstGeom prst="roundRect">
            <a:avLst>
              <a:gd name="adj" fmla="val 3429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5669280" y="1005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k=4?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669280" y="155448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curva se suaviza entre k=4 y k=5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 con nuestros 4 sectores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la interpretación de los grupos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entre precisión y complejidad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Clusters K-Means</a:t>
            </a:r>
            <a:endParaRPr lang="en-US" sz="3000" dirty="0"/>
          </a:p>
        </p:txBody>
      </p:sp>
      <p:pic>
        <p:nvPicPr>
          <p:cNvPr id="3" name="Image 0" descr="/home/claude/kmeans_pc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777240"/>
            <a:ext cx="4754880" cy="3474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03520" y="82296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E8174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5440680" y="8686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40680" y="120700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con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alto (48 emp.)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303520" y="187452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2196F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5440680" y="19202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40680" y="22585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deuda (39 emp.)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303520" y="292608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5440680" y="29718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 ★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40680" y="33101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GANADOR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37% · Crecim. 94%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03520" y="397764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5440680" y="40233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40680" y="43616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conservador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 (135 emp.)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Visión General de la Cartera</a:t>
            </a:r>
            <a:endParaRPr lang="en-US" sz="2800" dirty="0"/>
          </a:p>
        </p:txBody>
      </p:sp>
      <p:pic>
        <p:nvPicPr>
          <p:cNvPr id="3" name="Image 0" descr="/home/claude/dashboard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77240"/>
            <a:ext cx="859536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empresas · 4 sectores · 50.000 € distribuidos proporcionalmente al score financiero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Perfil Financiero</a:t>
            </a:r>
            <a:endParaRPr lang="en-US" sz="2800" dirty="0"/>
          </a:p>
        </p:txBody>
      </p:sp>
      <p:pic>
        <p:nvPicPr>
          <p:cNvPr id="3" name="Image 0" descr="/home/claude/dashboard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77240"/>
            <a:ext cx="859536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GILD (Healthcare) lidera en ROE · Mayoría de empresas en zona de alto margen y baja deuda (esquina superior izquierda)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27,49%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45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 medio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ponderado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14600" y="91440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51460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37,34%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514600" y="1645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neto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66344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25,64%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63440" y="1645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 media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ponderada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12280" y="91440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81228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50.000 €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812280" y="1645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invertido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4688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6,4% de empresas supera los filtros de calidad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2: el perfil óptimo — margen 37%, crecimiento 94%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neto es el principal driver del ROE (coef. 0,42)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283464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 con precios históricos 2014-2018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Sharpe Ratio y Beta reales de la cartera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dataset con datos recientes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github.com/jcuencar/sp500-cartera-analisis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666</Words>
  <Application>Microsoft Office PowerPoint</Application>
  <PresentationFormat>Presentación en pantalla (16:9)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y Construcción de Cartera S&amp;P 500</dc:title>
  <dc:subject>PptxGenJS Presentation</dc:subject>
  <dc:creator>Jesús Cuenca</dc:creator>
  <cp:lastModifiedBy>ACUS NERVUS</cp:lastModifiedBy>
  <cp:revision>2</cp:revision>
  <dcterms:created xsi:type="dcterms:W3CDTF">2026-06-29T16:53:04Z</dcterms:created>
  <dcterms:modified xsi:type="dcterms:W3CDTF">2026-06-30T11:07:39Z</dcterms:modified>
</cp:coreProperties>
</file>